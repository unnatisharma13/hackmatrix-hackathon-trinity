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Times New Roman" charset="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9275" r="0" b="-6927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53935" y="254162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3"/>
                </a:lnTo>
                <a:lnTo>
                  <a:pt x="0" y="30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73026" y="156210"/>
            <a:ext cx="10395937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8"/>
              </a:lnSpc>
            </a:pPr>
            <a:r>
              <a:rPr lang="en-US" b="true" sz="5998" spc="-2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5956" y="3227450"/>
            <a:ext cx="16898579" cy="168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5867" indent="-338622" lvl="2">
              <a:lnSpc>
                <a:spcPts val="6709"/>
              </a:lnSpc>
              <a:buFont typeface="Arial"/>
              <a:buChar char="⚬"/>
            </a:pPr>
            <a:r>
              <a:rPr lang="en-US" b="true" sz="4443" spc="-15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 :  Smart Resume-Job Matcher with Skill Gap Analyzer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3298" y="5458662"/>
            <a:ext cx="15747747" cy="76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1285" indent="-317095" lvl="2">
              <a:lnSpc>
                <a:spcPts val="6283"/>
              </a:lnSpc>
              <a:buFont typeface="Arial"/>
              <a:buChar char="⚬"/>
            </a:pPr>
            <a:r>
              <a:rPr lang="en-US" b="true" sz="4160" spc="-14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 Trinity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5956" y="6786601"/>
            <a:ext cx="15895089" cy="257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869" indent="-269956" lvl="2">
              <a:lnSpc>
                <a:spcPts val="5349"/>
              </a:lnSpc>
              <a:buFont typeface="Arial"/>
              <a:buChar char="⚬"/>
            </a:pPr>
            <a:r>
              <a:rPr lang="en-US" b="true" sz="3542" spc="-123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</a:p>
          <a:p>
            <a:pPr algn="l" marL="762217" indent="-254072" lvl="2">
              <a:lnSpc>
                <a:spcPts val="5034"/>
              </a:lnSpc>
              <a:buFont typeface="Arial"/>
              <a:buChar char="⚬"/>
            </a:pPr>
            <a:r>
              <a:rPr lang="en-US" b="true" sz="3334" spc="-11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Unnati Sharma     24BCE11097</a:t>
            </a:r>
          </a:p>
          <a:p>
            <a:pPr algn="l" marL="762217" indent="-254072" lvl="2">
              <a:lnSpc>
                <a:spcPts val="5034"/>
              </a:lnSpc>
              <a:buFont typeface="Arial"/>
              <a:buChar char="⚬"/>
            </a:pPr>
            <a:r>
              <a:rPr lang="en-US" b="true" sz="3334" spc="-11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Anvi                         24BCE10170</a:t>
            </a:r>
          </a:p>
          <a:p>
            <a:pPr algn="l" marL="762327" indent="-254109" lvl="2">
              <a:lnSpc>
                <a:spcPts val="5035"/>
              </a:lnSpc>
              <a:buFont typeface="Arial"/>
              <a:buChar char="⚬"/>
            </a:pPr>
            <a:r>
              <a:rPr lang="en-US" b="true" sz="3334" spc="-1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Somya NEEMA    24BCE10486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36739" y="401641"/>
            <a:ext cx="6614512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20837"/>
            <a:ext cx="5291138" cy="68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51624"/>
            <a:ext cx="5667375" cy="68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45900"/>
            <a:ext cx="5688959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603086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99084" y="2758373"/>
            <a:ext cx="15063692" cy="148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  <a:spcBef>
                <a:spcPct val="0"/>
              </a:spcBef>
            </a:pPr>
            <a:r>
              <a:rPr lang="en-US" sz="2814" spc="-22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today’s competitive job market, many candidates—especially freshers—struggle to understand how well their resume matches a job description. They often apply without knowing whether they meet the required skills or expectations, leading to frequent rejections.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1456" y="5051061"/>
            <a:ext cx="11541601" cy="179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844" indent="-366922" lvl="1">
              <a:lnSpc>
                <a:spcPts val="4759"/>
              </a:lnSpc>
              <a:buFont typeface="Arial"/>
              <a:buChar char="•"/>
            </a:pPr>
            <a:r>
              <a:rPr lang="en-US" sz="3399" spc="-27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students and freshers entering the job market</a:t>
            </a:r>
          </a:p>
          <a:p>
            <a:pPr algn="l" marL="733844" indent="-366922" lvl="1">
              <a:lnSpc>
                <a:spcPts val="4759"/>
              </a:lnSpc>
              <a:buFont typeface="Arial"/>
              <a:buChar char="•"/>
            </a:pPr>
            <a:r>
              <a:rPr lang="en-US" sz="3399" spc="-27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seekers with limited industry guidance</a:t>
            </a:r>
          </a:p>
          <a:p>
            <a:pPr algn="l" marL="733844" indent="-366922" lvl="1">
              <a:lnSpc>
                <a:spcPts val="4759"/>
              </a:lnSpc>
              <a:buFont typeface="Arial"/>
              <a:buChar char="•"/>
            </a:pPr>
            <a:r>
              <a:rPr lang="en-US" sz="3399" spc="-27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Individuals applying to multiple roles without proper feedback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2023" y="7784769"/>
            <a:ext cx="12456832" cy="232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number of job rejections due to poor resume alignment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clear feedback on what is missing or incorrect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Wastage of time and effort in applying blindly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confidence and slows career growth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9708" y="401641"/>
            <a:ext cx="9308754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3298" y="2960188"/>
            <a:ext cx="11776847" cy="272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094" indent="-266698" lvl="2">
              <a:lnSpc>
                <a:spcPts val="4899"/>
              </a:lnSpc>
              <a:buFont typeface="Arial"/>
              <a:buChar char="⚬"/>
            </a:pPr>
            <a:r>
              <a:rPr lang="en-US" b="true" sz="3499" spc="-27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 spc="-23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Applicant Tracking Systems (ATS) used by companies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 spc="-23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resume scanners (like Resume Worded, Jobscan)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 spc="-23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tools such as ChatGPT</a:t>
            </a:r>
          </a:p>
          <a:p>
            <a:pPr algn="l" marL="1295394" indent="-431798" lvl="2">
              <a:lnSpc>
                <a:spcPts val="4200"/>
              </a:lnSpc>
              <a:buFont typeface="Arial"/>
              <a:buChar char="⚬"/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Professional resume review services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298" y="6433839"/>
            <a:ext cx="13133097" cy="333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094" indent="-266698" lvl="2">
              <a:lnSpc>
                <a:spcPts val="4899"/>
              </a:lnSpc>
              <a:buFont typeface="Arial"/>
              <a:buChar char="⚬"/>
            </a:pPr>
            <a:r>
              <a:rPr lang="en-US" b="true" sz="3499" spc="-27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only a match score without detailed explanation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clearly explain why a resume is rejected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personalized improvement suggestions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specifically designed for freshers or beginners</a:t>
            </a:r>
          </a:p>
          <a:p>
            <a:pPr algn="l" marL="1338572" indent="-446191" lvl="2">
              <a:lnSpc>
                <a:spcPts val="4340"/>
              </a:lnSpc>
              <a:buFont typeface="Arial"/>
              <a:buChar char="⚬"/>
            </a:pPr>
            <a:r>
              <a:rPr lang="en-US" sz="3099" spc="-2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tools are paid or complex to use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5509" y="2960188"/>
            <a:ext cx="12297018" cy="331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4" indent="-259078" lvl="2">
              <a:lnSpc>
                <a:spcPts val="4759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focuses on bridging this gap by: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clear reasons for mismatch, not just scores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Giving actionable suggestions to improve the resume</a:t>
            </a:r>
          </a:p>
          <a:p>
            <a:pPr algn="l" marL="1338572" indent="-446191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Offering a skill gap roadmap for users</a:t>
            </a:r>
          </a:p>
          <a:p>
            <a:pPr algn="l" marL="1338572" indent="-446191" lvl="2">
              <a:lnSpc>
                <a:spcPts val="4340"/>
              </a:lnSpc>
              <a:buFont typeface="Arial"/>
              <a:buChar char="⚬"/>
            </a:pPr>
            <a:r>
              <a:rPr lang="en-US" sz="3099" spc="-2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simple and beginner-friendly interface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21877" y="150396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13002" y="401641"/>
            <a:ext cx="6320876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3722" y="1546175"/>
            <a:ext cx="6419522" cy="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80" indent="-266660" lvl="2">
              <a:lnSpc>
                <a:spcPts val="4899"/>
              </a:lnSpc>
              <a:buFont typeface="Arial"/>
              <a:buChar char="⚬"/>
            </a:pPr>
            <a:r>
              <a:rPr lang="en-US" b="true" sz="3498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298" y="4254416"/>
            <a:ext cx="5209280" cy="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80" indent="-266660" lvl="2">
              <a:lnSpc>
                <a:spcPts val="4899"/>
              </a:lnSpc>
              <a:buFont typeface="Arial"/>
              <a:buChar char="⚬"/>
            </a:pPr>
            <a:r>
              <a:rPr lang="en-US" b="true" sz="3498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3298" y="7597670"/>
            <a:ext cx="7600069" cy="59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3549" indent="-261183" lvl="2">
              <a:lnSpc>
                <a:spcPts val="4798"/>
              </a:lnSpc>
              <a:buFont typeface="Arial"/>
              <a:buChar char="⚬"/>
            </a:pPr>
            <a:r>
              <a:rPr lang="en-US" b="true" sz="3427" spc="-273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4604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73667" y="2017630"/>
            <a:ext cx="15340665" cy="209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is a smart Resume-Job Matcher that compares a user’s resume with a job description to evaluate how well they match.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analyzes skills, projects, and experience, then provides a match score along with clear feedback.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also suggests improvements and highlights missing skills, making it especially helpful for freshers.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817" y="4778291"/>
            <a:ext cx="11684518" cy="261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486" indent="-323743" lvl="1">
              <a:lnSpc>
                <a:spcPts val="4198"/>
              </a:lnSpc>
              <a:buFont typeface="Arial"/>
              <a:buChar char="•"/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score with percentage</a:t>
            </a:r>
          </a:p>
          <a:p>
            <a:pPr algn="l" marL="647486" indent="-323743" lvl="1">
              <a:lnSpc>
                <a:spcPts val="4198"/>
              </a:lnSpc>
              <a:buFont typeface="Arial"/>
              <a:buChar char="•"/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score breakdown (skills, projects, experience)</a:t>
            </a:r>
          </a:p>
          <a:p>
            <a:pPr algn="l" marL="647486" indent="-323743" lvl="1">
              <a:lnSpc>
                <a:spcPts val="4198"/>
              </a:lnSpc>
              <a:buFont typeface="Arial"/>
              <a:buChar char="•"/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missing skills</a:t>
            </a:r>
          </a:p>
          <a:p>
            <a:pPr algn="l" marL="647486" indent="-323743" lvl="1">
              <a:lnSpc>
                <a:spcPts val="4198"/>
              </a:lnSpc>
              <a:buFont typeface="Arial"/>
              <a:buChar char="•"/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improvement suggestions</a:t>
            </a:r>
          </a:p>
          <a:p>
            <a:pPr algn="l" marL="647486" indent="-323743" lvl="1">
              <a:lnSpc>
                <a:spcPts val="4198"/>
              </a:lnSpc>
              <a:buFont typeface="Arial"/>
              <a:buChar char="•"/>
            </a:pPr>
            <a:r>
              <a:rPr lang="en-US" sz="2999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fresher-friendly feedback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9084" y="8386249"/>
            <a:ext cx="11871046" cy="169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  <a:spcBef>
                <a:spcPct val="0"/>
              </a:spcBef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understand their job readiness before applying</a:t>
            </a:r>
          </a:p>
          <a:p>
            <a:pPr algn="just">
              <a:lnSpc>
                <a:spcPts val="4478"/>
              </a:lnSpc>
              <a:spcBef>
                <a:spcPct val="0"/>
              </a:spcBef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clear reasons for low match instead of just a score</a:t>
            </a:r>
          </a:p>
          <a:p>
            <a:pPr algn="just">
              <a:lnSpc>
                <a:spcPts val="4478"/>
              </a:lnSpc>
              <a:spcBef>
                <a:spcPct val="0"/>
              </a:spcBef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Guides users on how to improve their resume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76633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323445" y="7607726"/>
            <a:ext cx="5650629" cy="2607923"/>
          </a:xfrm>
          <a:custGeom>
            <a:avLst/>
            <a:gdLst/>
            <a:ahLst/>
            <a:cxnLst/>
            <a:rect r="r" b="b" t="t" l="l"/>
            <a:pathLst>
              <a:path h="2607923" w="5650629">
                <a:moveTo>
                  <a:pt x="0" y="0"/>
                </a:moveTo>
                <a:lnTo>
                  <a:pt x="5650629" y="0"/>
                </a:lnTo>
                <a:lnTo>
                  <a:pt x="5650629" y="2607923"/>
                </a:lnTo>
                <a:lnTo>
                  <a:pt x="0" y="2607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178" r="0" b="-917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34918" y="2212873"/>
            <a:ext cx="3219436" cy="5394852"/>
          </a:xfrm>
          <a:custGeom>
            <a:avLst/>
            <a:gdLst/>
            <a:ahLst/>
            <a:cxnLst/>
            <a:rect r="r" b="b" t="t" l="l"/>
            <a:pathLst>
              <a:path h="5394852" w="3219436">
                <a:moveTo>
                  <a:pt x="0" y="0"/>
                </a:moveTo>
                <a:lnTo>
                  <a:pt x="3219436" y="0"/>
                </a:lnTo>
                <a:lnTo>
                  <a:pt x="3219436" y="5394853"/>
                </a:lnTo>
                <a:lnTo>
                  <a:pt x="0" y="53948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9620" t="-16204" r="-142189" b="-499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42232" y="272196"/>
            <a:ext cx="8054856" cy="8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52078" y="1613459"/>
            <a:ext cx="5464431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3298" y="1622984"/>
            <a:ext cx="9423192" cy="852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797" indent="-228599" lvl="2">
              <a:lnSpc>
                <a:spcPts val="4199"/>
              </a:lnSpc>
              <a:buFont typeface="Arial"/>
              <a:buChar char="⚬"/>
            </a:pPr>
            <a:r>
              <a:rPr lang="en-US" b="true" sz="2999" spc="-23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Backend, Database, APIs)</a:t>
            </a:r>
          </a:p>
          <a:p>
            <a:pPr algn="l">
              <a:lnSpc>
                <a:spcPts val="3919"/>
              </a:lnSpc>
            </a:pPr>
          </a:p>
          <a:p>
            <a:pPr algn="l" marL="588643" indent="-294321" lvl="1">
              <a:lnSpc>
                <a:spcPts val="3817"/>
              </a:lnSpc>
              <a:buAutoNum type="arabicPeriod" startAt="1"/>
            </a:pPr>
            <a:r>
              <a:rPr lang="en-US" sz="2726" spc="-2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Technologies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HTML, CSS, JavaScript / React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Chosen for creating a simple, responsive, and user-friendly interface</a:t>
            </a:r>
          </a:p>
          <a:p>
            <a:pPr algn="l" marL="588643" indent="-294321" lvl="1">
              <a:lnSpc>
                <a:spcPts val="3817"/>
              </a:lnSpc>
              <a:buAutoNum type="arabicPeriod" startAt="1"/>
            </a:pPr>
            <a:r>
              <a:rPr lang="en-US" sz="2726" spc="-2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Technologies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(Flask) / Node.js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handle logic, process data, and perform resume-job matching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/ No Database (optional)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store user inputs and results if needed</a:t>
            </a:r>
          </a:p>
          <a:p>
            <a:pPr algn="l" marL="588643" indent="-294321" lvl="1">
              <a:lnSpc>
                <a:spcPts val="3817"/>
              </a:lnSpc>
              <a:buAutoNum type="arabicPeriod" startAt="1"/>
            </a:pPr>
            <a:r>
              <a:rPr lang="en-US" sz="2726" spc="-2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APIs Used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Libraries (NLTK / spaCy)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for keyword extraction and text analysis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APIs (e.g., OpenAI API)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generate smart suggestions and explanations</a:t>
            </a:r>
          </a:p>
          <a:p>
            <a:pPr algn="l" marL="600409" indent="-200136" lvl="2">
              <a:lnSpc>
                <a:spcPts val="3677"/>
              </a:lnSpc>
              <a:buFont typeface="Arial"/>
              <a:buChar char="⚬"/>
            </a:pPr>
            <a:r>
              <a:rPr lang="en-US" sz="2626" spc="-2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Editor (VS Code)</a:t>
            </a:r>
          </a:p>
          <a:p>
            <a:pPr algn="l" marL="600491" indent="-200164" lvl="2">
              <a:lnSpc>
                <a:spcPts val="3677"/>
              </a:lnSpc>
              <a:buFont typeface="Arial"/>
              <a:buChar char="⚬"/>
            </a:pPr>
            <a:r>
              <a:rPr lang="en-US" sz="2626" spc="-20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for efficient development and debugging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9660" y="7008311"/>
            <a:ext cx="4951391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87580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07239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070042" y="1278674"/>
            <a:ext cx="5631566" cy="8630752"/>
          </a:xfrm>
          <a:custGeom>
            <a:avLst/>
            <a:gdLst/>
            <a:ahLst/>
            <a:cxnLst/>
            <a:rect r="r" b="b" t="t" l="l"/>
            <a:pathLst>
              <a:path h="8630752" w="5631566">
                <a:moveTo>
                  <a:pt x="0" y="0"/>
                </a:moveTo>
                <a:lnTo>
                  <a:pt x="5631566" y="0"/>
                </a:lnTo>
                <a:lnTo>
                  <a:pt x="5631566" y="8630752"/>
                </a:lnTo>
                <a:lnTo>
                  <a:pt x="0" y="8630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4675" y="272196"/>
            <a:ext cx="10896419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810275"/>
            <a:ext cx="6785548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379" y="4606528"/>
            <a:ext cx="5573763" cy="68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94512" y="253708"/>
            <a:ext cx="3698977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42175"/>
            <a:ext cx="6479329" cy="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80" indent="-266660" lvl="2">
              <a:lnSpc>
                <a:spcPts val="4899"/>
              </a:lnSpc>
              <a:buFont typeface="Arial"/>
              <a:buChar char="⚬"/>
            </a:pPr>
            <a:r>
              <a:rPr lang="en-US" b="true" sz="3498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03523"/>
            <a:ext cx="7262143" cy="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80" indent="-266660" lvl="2">
              <a:lnSpc>
                <a:spcPts val="4899"/>
              </a:lnSpc>
              <a:buFont typeface="Arial"/>
              <a:buChar char="⚬"/>
            </a:pPr>
            <a:r>
              <a:rPr lang="en-US" b="true" sz="3498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93488" y="3055864"/>
            <a:ext cx="2415620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25350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953872" y="3312709"/>
            <a:ext cx="5879688" cy="221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007" indent="-338503" lvl="1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 – Structure of the web app</a:t>
            </a:r>
          </a:p>
          <a:p>
            <a:pPr algn="l" marL="677007" indent="-338503" lvl="1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CSS3 – Design and layout</a:t>
            </a:r>
          </a:p>
          <a:p>
            <a:pPr algn="l" marL="677007" indent="-338503" lvl="1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– Interactivity</a:t>
            </a:r>
          </a:p>
          <a:p>
            <a:pPr algn="l" marL="677007" indent="-338503" lvl="1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(optional) – Dynamic 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9084" y="6771846"/>
            <a:ext cx="7444916" cy="225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665" indent="-345333" lvl="1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/ Node.js – Backend logic</a:t>
            </a:r>
          </a:p>
          <a:p>
            <a:pPr algn="l" marL="690665" indent="-345333" lvl="1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/ Express.js – API handling</a:t>
            </a:r>
          </a:p>
          <a:p>
            <a:pPr algn="l" marL="690665" indent="-345333" lvl="1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Language Processing – Resume analysis</a:t>
            </a:r>
          </a:p>
          <a:p>
            <a:pPr algn="l" marL="690665" indent="-345333" lvl="1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(optional) – Data storage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87330" y="3855182"/>
            <a:ext cx="6667024" cy="26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/ MongoDB – Store user data 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Stores: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inputs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descriptions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results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30030" y="243288"/>
            <a:ext cx="7003999" cy="10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3298" y="2233309"/>
            <a:ext cx="9333803" cy="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81" indent="-266660" lvl="2">
              <a:lnSpc>
                <a:spcPts val="4899"/>
              </a:lnSpc>
              <a:buFont typeface="Arial"/>
              <a:buChar char="⚬"/>
            </a:pPr>
            <a:r>
              <a:rPr lang="en-US" b="true" sz="3498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development plan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09757" y="2233309"/>
            <a:ext cx="9333870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8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or features to be built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16730" y="1307173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35813" y="2937740"/>
            <a:ext cx="9988435" cy="65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Interface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input page for resume &amp; job description using HTML5 &amp; CSS3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Frontend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interactivity with JavaScript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Backend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Flask / Express.js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Matching Logic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resume &amp; job description using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Natural Language Processing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Output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match score, missing skills, and suggestions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&amp; Test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frontend + backend and test the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6149" y="2937740"/>
            <a:ext cx="10925029" cy="707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Input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Enter resume &amp; job description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Processing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Clean and analyze text using Natural Language Processing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Compare skills and keywords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Generation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Calculate match percentage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Identify missing skills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Suggestion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Provide improvement tips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Display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Show score, feedback, and 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6555" y="244240"/>
            <a:ext cx="8827741" cy="10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011" y="2867294"/>
            <a:ext cx="7693087" cy="264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449" indent="-289483" lvl="2">
              <a:lnSpc>
                <a:spcPts val="5318"/>
              </a:lnSpc>
              <a:buFont typeface="Arial"/>
              <a:buChar char="⚬"/>
            </a:pPr>
            <a:r>
              <a:rPr lang="en-US" b="true" sz="3798" spc="-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  <a:p>
            <a:pPr algn="l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sz="3699" spc="-2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resume-job match score</a:t>
            </a:r>
          </a:p>
          <a:p>
            <a:pPr algn="l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sz="3699" spc="-2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missing skills</a:t>
            </a:r>
          </a:p>
          <a:p>
            <a:pPr algn="l" marL="798826" indent="-399413" lvl="1">
              <a:lnSpc>
                <a:spcPts val="5180"/>
              </a:lnSpc>
              <a:buFont typeface="Arial"/>
              <a:buChar char="•"/>
            </a:pPr>
            <a:r>
              <a:rPr lang="en-US" sz="3699" spc="-2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improvement suggestions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505575"/>
            <a:ext cx="9319104" cy="253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449" indent="-289483" lvl="2">
              <a:lnSpc>
                <a:spcPts val="5318"/>
              </a:lnSpc>
              <a:buFont typeface="Arial"/>
              <a:buChar char="⚬"/>
            </a:pPr>
            <a:r>
              <a:rPr lang="en-US" b="true" sz="3798" spc="-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  <a:p>
            <a:pPr algn="l" marL="800095" indent="-266698" lvl="2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improve their resumes</a:t>
            </a:r>
          </a:p>
          <a:p>
            <a:pPr algn="l" marL="800095" indent="-266698" lvl="2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by providing clear feedback</a:t>
            </a:r>
          </a:p>
          <a:p>
            <a:pPr algn="l" marL="800205" indent="-266735" lvl="2">
              <a:lnSpc>
                <a:spcPts val="4900"/>
              </a:lnSpc>
              <a:buFont typeface="Arial"/>
              <a:buChar char="⚬"/>
            </a:pPr>
            <a:r>
              <a:rPr lang="en-US" sz="3499" spc="-2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chances of job selection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0715" y="2938790"/>
            <a:ext cx="9052848" cy="255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1309" indent="-297103" lvl="2">
              <a:lnSpc>
                <a:spcPts val="5458"/>
              </a:lnSpc>
              <a:buFont typeface="Arial"/>
              <a:buChar char="⚬"/>
            </a:pPr>
            <a:r>
              <a:rPr lang="en-US" b="true" sz="3898" spc="-3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</a:t>
            </a:r>
          </a:p>
          <a:p>
            <a:pPr algn="l" marL="800095" indent="-266698" lvl="2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job rejection rates</a:t>
            </a:r>
          </a:p>
          <a:p>
            <a:pPr algn="l" marL="800095" indent="-266698" lvl="2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employability of freshers</a:t>
            </a:r>
          </a:p>
          <a:p>
            <a:pPr algn="l" marL="800205" indent="-266735" lvl="2">
              <a:lnSpc>
                <a:spcPts val="4900"/>
              </a:lnSpc>
              <a:buFont typeface="Arial"/>
              <a:buChar char="⚬"/>
            </a:pPr>
            <a:r>
              <a:rPr lang="en-US" sz="3499" spc="-2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better career decision-making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03649" y="197672"/>
            <a:ext cx="9836648" cy="10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3298" y="1778010"/>
            <a:ext cx="7102120" cy="277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  <a:p>
            <a:pPr algn="l" marL="708658" indent="-236219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for PDF/DOC resume uploads</a:t>
            </a:r>
          </a:p>
          <a:p>
            <a:pPr algn="l" marL="708658" indent="-236219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job portals (LinkedIn, etc.)</a:t>
            </a:r>
          </a:p>
          <a:p>
            <a:pPr algn="l" marL="708658" indent="-236219" lvl="2">
              <a:lnSpc>
                <a:spcPts val="4339"/>
              </a:lnSpc>
              <a:buFont typeface="Arial"/>
              <a:buChar char="⚬"/>
            </a:pPr>
            <a:r>
              <a:rPr lang="en-US" sz="3099" spc="-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AI-based suggestions</a:t>
            </a:r>
          </a:p>
          <a:p>
            <a:pPr algn="l" marL="708754" indent="-236251" lvl="2">
              <a:lnSpc>
                <a:spcPts val="4340"/>
              </a:lnSpc>
              <a:buFont typeface="Arial"/>
              <a:buChar char="⚬"/>
            </a:pPr>
            <a:r>
              <a:rPr lang="en-US" sz="3099" spc="-2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298" y="7246582"/>
            <a:ext cx="15077361" cy="233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730" indent="-274243" lvl="2">
              <a:lnSpc>
                <a:spcPts val="5038"/>
              </a:lnSpc>
              <a:buFont typeface="Arial"/>
              <a:buChar char="⚬"/>
            </a:pPr>
            <a:r>
              <a:rPr lang="en-US" b="true" sz="3598" spc="-28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  <a:p>
            <a:pPr algn="l" marL="731517" indent="-243839" lvl="2">
              <a:lnSpc>
                <a:spcPts val="4479"/>
              </a:lnSpc>
              <a:buFont typeface="Arial"/>
              <a:buChar char="⚬"/>
            </a:pPr>
            <a:r>
              <a:rPr lang="en-US" sz="3199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expanded into a full career guidance platform</a:t>
            </a:r>
          </a:p>
          <a:p>
            <a:pPr algn="l" marL="731517" indent="-243839" lvl="2">
              <a:lnSpc>
                <a:spcPts val="4479"/>
              </a:lnSpc>
              <a:buFont typeface="Arial"/>
              <a:buChar char="⚬"/>
            </a:pPr>
            <a:r>
              <a:rPr lang="en-US" sz="3199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support thousands of users with cloud deployment</a:t>
            </a:r>
          </a:p>
          <a:p>
            <a:pPr algn="l" marL="731617" indent="-243872" lvl="2">
              <a:lnSpc>
                <a:spcPts val="4480"/>
              </a:lnSpc>
              <a:buFont typeface="Arial"/>
              <a:buChar char="⚬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integrate additional features like job recommendations and interview prep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0790" y="5057775"/>
            <a:ext cx="14209255" cy="168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  <a:p>
            <a:pPr algn="l" marL="708754" indent="-236251" lvl="2">
              <a:lnSpc>
                <a:spcPts val="4340"/>
              </a:lnSpc>
              <a:buFont typeface="Arial"/>
              <a:buChar char="⚬"/>
            </a:pPr>
            <a:r>
              <a:rPr lang="en-US" sz="3099" spc="-2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helps users understand how well their resume matches a job and provides clear guidance to improve it, making job preparation smarter, faster, and more effective.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6047" y="12713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DAHFuOJoaxU</dc:identifier>
  <dcterms:modified xsi:type="dcterms:W3CDTF">2011-08-01T06:04:30Z</dcterms:modified>
  <cp:revision>1</cp:revision>
  <dc:title>PPT template.pptx</dc:title>
</cp:coreProperties>
</file>