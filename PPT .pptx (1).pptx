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Times New Roman Bold" panose="02020803070505020304" pitchFamily="18" charset="0"/>
      <p:bold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8" d="100"/>
          <a:sy n="38" d="100"/>
        </p:scale>
        <p:origin x="102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3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3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3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69275" b="-69275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153935" y="2541622"/>
            <a:ext cx="16230600" cy="302552"/>
          </a:xfrm>
          <a:custGeom>
            <a:avLst/>
            <a:gdLst/>
            <a:ahLst/>
            <a:cxnLst/>
            <a:rect l="l" t="t" r="r" b="b"/>
            <a:pathLst>
              <a:path w="16230600" h="302552">
                <a:moveTo>
                  <a:pt x="0" y="0"/>
                </a:moveTo>
                <a:lnTo>
                  <a:pt x="16230600" y="0"/>
                </a:lnTo>
                <a:lnTo>
                  <a:pt x="16230600" y="302553"/>
                </a:lnTo>
                <a:lnTo>
                  <a:pt x="0" y="3025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33298" y="575310"/>
            <a:ext cx="2131571" cy="1004830"/>
            <a:chOff x="0" y="0"/>
            <a:chExt cx="2842095" cy="13397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2133" cy="1339723"/>
            </a:xfrm>
            <a:custGeom>
              <a:avLst/>
              <a:gdLst/>
              <a:ahLst/>
              <a:cxnLst/>
              <a:rect l="l" t="t" r="r" b="b"/>
              <a:pathLst>
                <a:path w="2842133" h="133972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r="-85" b="-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978664" y="-269129"/>
            <a:ext cx="2475690" cy="2475690"/>
            <a:chOff x="0" y="0"/>
            <a:chExt cx="3300921" cy="330092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00984" cy="3300984"/>
            </a:xfrm>
            <a:custGeom>
              <a:avLst/>
              <a:gdLst/>
              <a:ahLst/>
              <a:cxnLst/>
              <a:rect l="l" t="t" r="r" b="b"/>
              <a:pathLst>
                <a:path w="3300984" h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4173026" y="156210"/>
            <a:ext cx="10395937" cy="1325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8"/>
              </a:lnSpc>
            </a:pPr>
            <a:r>
              <a:rPr lang="en-US" sz="5998" b="1" spc="-214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HACK MATRIX HACKATHON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85956" y="3227450"/>
            <a:ext cx="16898579" cy="1682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15867" lvl="2" indent="-338622" algn="l">
              <a:lnSpc>
                <a:spcPts val="6709"/>
              </a:lnSpc>
              <a:buFont typeface="Arial"/>
              <a:buChar char="⚬"/>
            </a:pPr>
            <a:r>
              <a:rPr lang="en-US" sz="4443" b="1" spc="-15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TITLE  :  Smart Resume-Job Matcher with Skill Gap Analyzer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3298" y="5458662"/>
            <a:ext cx="15747747" cy="7695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51285" lvl="2" indent="-317095" algn="l">
              <a:lnSpc>
                <a:spcPts val="6283"/>
              </a:lnSpc>
              <a:buFont typeface="Arial"/>
              <a:buChar char="⚬"/>
            </a:pPr>
            <a:r>
              <a:rPr lang="en-US" sz="4160" b="1" spc="-14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:  Trinity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85956" y="6786601"/>
            <a:ext cx="15895089" cy="2579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9869" lvl="2" indent="-269956" algn="l">
              <a:lnSpc>
                <a:spcPts val="5349"/>
              </a:lnSpc>
              <a:buFont typeface="Arial"/>
              <a:buChar char="⚬"/>
            </a:pPr>
            <a:r>
              <a:rPr lang="en-US" sz="3542" b="1" spc="-123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 : </a:t>
            </a:r>
          </a:p>
          <a:p>
            <a:pPr marL="762217" lvl="2" indent="-254072" algn="l">
              <a:lnSpc>
                <a:spcPts val="5034"/>
              </a:lnSpc>
              <a:buFont typeface="Arial"/>
              <a:buChar char="⚬"/>
            </a:pPr>
            <a:r>
              <a:rPr lang="en-US" sz="3334" b="1" spc="-11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Unnati Sharma     24BCE11097</a:t>
            </a:r>
          </a:p>
          <a:p>
            <a:pPr marL="762217" lvl="2" indent="-254072" algn="l">
              <a:lnSpc>
                <a:spcPts val="5034"/>
              </a:lnSpc>
              <a:buFont typeface="Arial"/>
              <a:buChar char="⚬"/>
            </a:pPr>
            <a:r>
              <a:rPr lang="en-US" sz="3334" b="1" spc="-116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Anvi                         24BCE10170</a:t>
            </a:r>
          </a:p>
          <a:p>
            <a:pPr marL="762327" lvl="2" indent="-254109" algn="l">
              <a:lnSpc>
                <a:spcPts val="5035"/>
              </a:lnSpc>
              <a:buFont typeface="Arial"/>
              <a:buChar char="⚬"/>
            </a:pPr>
            <a:r>
              <a:rPr lang="en-US" sz="3334" b="1" spc="-11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Somya NEEMA    24BCE10486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71" b="-927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5836738" y="401641"/>
            <a:ext cx="7879261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  STATEMENT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62534" y="2134810"/>
            <a:ext cx="5291138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117" lvl="2" indent="-259039" algn="l">
              <a:lnSpc>
                <a:spcPts val="4759"/>
              </a:lnSpc>
              <a:buFont typeface="Arial"/>
              <a:buChar char="⚬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Describe the problem clearly </a:t>
            </a:r>
            <a:r>
              <a:rPr lang="en-US" sz="3399" b="1" spc="-271" dirty="0" smtClean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  <a:endParaRPr lang="en-US" sz="3399" b="1" spc="-271" dirty="0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87934" y="4452525"/>
            <a:ext cx="5667375" cy="615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117" lvl="2" indent="-259039" algn="l">
              <a:lnSpc>
                <a:spcPts val="4759"/>
              </a:lnSpc>
              <a:buFont typeface="Arial"/>
              <a:buChar char="⚬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Who is affected by this problem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6015" y="6809577"/>
            <a:ext cx="5981700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7117" lvl="2" indent="-259039" algn="l">
              <a:lnSpc>
                <a:spcPts val="4759"/>
              </a:lnSpc>
              <a:buFont typeface="Arial"/>
              <a:buChar char="⚬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Why this problem is important </a:t>
            </a:r>
          </a:p>
        </p:txBody>
      </p:sp>
      <p:sp>
        <p:nvSpPr>
          <p:cNvPr id="8" name="Freeform 8"/>
          <p:cNvSpPr/>
          <p:nvPr/>
        </p:nvSpPr>
        <p:spPr>
          <a:xfrm>
            <a:off x="985932" y="1602241"/>
            <a:ext cx="16230600" cy="302552"/>
          </a:xfrm>
          <a:custGeom>
            <a:avLst/>
            <a:gdLst/>
            <a:ahLst/>
            <a:cxnLst/>
            <a:rect l="l" t="t" r="r" b="b"/>
            <a:pathLst>
              <a:path w="16230600" h="302552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33298" y="575310"/>
            <a:ext cx="2131571" cy="1004830"/>
            <a:chOff x="0" y="0"/>
            <a:chExt cx="2842095" cy="13397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42133" cy="1339723"/>
            </a:xfrm>
            <a:custGeom>
              <a:avLst/>
              <a:gdLst/>
              <a:ahLst/>
              <a:cxnLst/>
              <a:rect l="l" t="t" r="r" b="b"/>
              <a:pathLst>
                <a:path w="2842133" h="133972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r="-85" b="-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978664" y="-269129"/>
            <a:ext cx="2475690" cy="2475690"/>
            <a:chOff x="0" y="0"/>
            <a:chExt cx="3300921" cy="33009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00984" cy="3300984"/>
            </a:xfrm>
            <a:custGeom>
              <a:avLst/>
              <a:gdLst/>
              <a:ahLst/>
              <a:cxnLst/>
              <a:rect l="l" t="t" r="r" b="b"/>
              <a:pathLst>
                <a:path w="3300984" h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6675628" y="2175132"/>
            <a:ext cx="10858145" cy="20005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40"/>
              </a:lnSpc>
              <a:spcBef>
                <a:spcPct val="0"/>
              </a:spcBef>
            </a:pPr>
            <a:r>
              <a:rPr lang="en-US" sz="3200" spc="-22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today’s competitive job market, many </a:t>
            </a:r>
            <a:r>
              <a:rPr lang="en-US" sz="3200" spc="-224" dirty="0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candidates  especially </a:t>
            </a:r>
            <a:r>
              <a:rPr lang="en-US" sz="3200" spc="-224" dirty="0" err="1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freshers</a:t>
            </a:r>
            <a:r>
              <a:rPr lang="en-US" sz="3200" spc="-22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200" spc="-224" dirty="0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struggle </a:t>
            </a:r>
            <a:r>
              <a:rPr lang="en-US" sz="3200" spc="-22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understand how well their resume matches a job description. They often apply without knowing whether they meet the required skills or expectations, leading to frequent rejections.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255309" y="4528103"/>
            <a:ext cx="11541601" cy="17995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3844" lvl="1" indent="-366922" algn="l">
              <a:lnSpc>
                <a:spcPts val="4759"/>
              </a:lnSpc>
              <a:buFont typeface="Arial"/>
              <a:buChar char="•"/>
            </a:pPr>
            <a:r>
              <a:rPr lang="en-US" sz="3399" spc="-27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College students and </a:t>
            </a:r>
            <a:r>
              <a:rPr lang="en-US" sz="3399" spc="-270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freshers</a:t>
            </a:r>
            <a:r>
              <a:rPr lang="en-US" sz="3399" spc="-27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entering the job market</a:t>
            </a:r>
          </a:p>
          <a:p>
            <a:pPr marL="733844" lvl="1" indent="-366922" algn="l">
              <a:lnSpc>
                <a:spcPts val="4759"/>
              </a:lnSpc>
              <a:buFont typeface="Arial"/>
              <a:buChar char="•"/>
            </a:pPr>
            <a:r>
              <a:rPr lang="en-US" sz="3399" spc="-27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 seekers with limited industry guidance</a:t>
            </a:r>
          </a:p>
          <a:p>
            <a:pPr marL="733844" lvl="1" indent="-366922" algn="l">
              <a:lnSpc>
                <a:spcPts val="4759"/>
              </a:lnSpc>
              <a:buFont typeface="Arial"/>
              <a:buChar char="•"/>
            </a:pPr>
            <a:r>
              <a:rPr lang="en-US" sz="3399" spc="-27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Individuals applying to multiple roles without proper feedback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37715" y="6955088"/>
            <a:ext cx="12456832" cy="2325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2255" lvl="1" indent="-356127" algn="l">
              <a:lnSpc>
                <a:spcPts val="4618"/>
              </a:lnSpc>
              <a:buFont typeface="Arial"/>
              <a:buChar char="•"/>
            </a:pPr>
            <a:r>
              <a:rPr lang="en-US" sz="3299" spc="-263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number of job rejections due to poor resume alignment</a:t>
            </a:r>
          </a:p>
          <a:p>
            <a:pPr marL="712255" lvl="1" indent="-356127" algn="l">
              <a:lnSpc>
                <a:spcPts val="4618"/>
              </a:lnSpc>
              <a:buFont typeface="Arial"/>
              <a:buChar char="•"/>
            </a:pPr>
            <a:r>
              <a:rPr lang="en-US" sz="3299" spc="-263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clear feedback on what is missing or incorrect</a:t>
            </a:r>
          </a:p>
          <a:p>
            <a:pPr marL="712255" lvl="1" indent="-356127" algn="l">
              <a:lnSpc>
                <a:spcPts val="4618"/>
              </a:lnSpc>
              <a:buFont typeface="Arial"/>
              <a:buChar char="•"/>
            </a:pPr>
            <a:r>
              <a:rPr lang="en-US" sz="3299" spc="-263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Wastage of time and effort in applying blindly</a:t>
            </a:r>
          </a:p>
          <a:p>
            <a:pPr marL="712255" lvl="1" indent="-356127" algn="l">
              <a:lnSpc>
                <a:spcPts val="4618"/>
              </a:lnSpc>
              <a:buFont typeface="Arial"/>
              <a:buChar char="•"/>
            </a:pPr>
            <a:r>
              <a:rPr lang="en-US" sz="3299" spc="-263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confidence and slows career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71" b="-927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369708" y="401641"/>
            <a:ext cx="9308754" cy="1006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EXISTING  SOLUTIONS  AND  GAPS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1000" y="2471336"/>
            <a:ext cx="11776847" cy="27828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0094" lvl="2" indent="-266698" algn="l">
              <a:lnSpc>
                <a:spcPts val="4899"/>
              </a:lnSpc>
              <a:buFont typeface="Arial"/>
              <a:buChar char="⚬"/>
            </a:pPr>
            <a:r>
              <a:rPr lang="en-US" sz="3600" b="1" spc="-276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of existing Solutions  (if any)</a:t>
            </a:r>
          </a:p>
          <a:p>
            <a:pPr marL="1295394" lvl="2" indent="-431798" algn="l">
              <a:lnSpc>
                <a:spcPts val="4199"/>
              </a:lnSpc>
              <a:buFont typeface="Arial"/>
              <a:buChar char="⚬"/>
            </a:pPr>
            <a:r>
              <a:rPr lang="en-US" sz="3200" spc="-236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Applicant Tracking Systems (ATS) used by companies</a:t>
            </a:r>
          </a:p>
          <a:p>
            <a:pPr marL="1295394" lvl="2" indent="-431798" algn="l">
              <a:lnSpc>
                <a:spcPts val="4199"/>
              </a:lnSpc>
              <a:buFont typeface="Arial"/>
              <a:buChar char="⚬"/>
            </a:pPr>
            <a:r>
              <a:rPr lang="en-US" sz="3200" spc="-236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Online resume scanners (like Resume Worded, </a:t>
            </a:r>
            <a:r>
              <a:rPr lang="en-US" sz="3200" spc="-236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Jobscan</a:t>
            </a:r>
            <a:r>
              <a:rPr lang="en-US" sz="3200" spc="-236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1295394" lvl="2" indent="-431798" algn="l">
              <a:lnSpc>
                <a:spcPts val="4199"/>
              </a:lnSpc>
              <a:buFont typeface="Arial"/>
              <a:buChar char="⚬"/>
            </a:pPr>
            <a:r>
              <a:rPr lang="en-US" sz="3200" spc="-236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tools such as ChatGPT</a:t>
            </a:r>
          </a:p>
          <a:p>
            <a:pPr marL="1295394" lvl="2" indent="-431798" algn="l">
              <a:lnSpc>
                <a:spcPts val="4200"/>
              </a:lnSpc>
              <a:buFont typeface="Arial"/>
              <a:buChar char="⚬"/>
            </a:pPr>
            <a:r>
              <a:rPr lang="en-US" sz="3200" spc="-23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Professional resume review services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8600" y="6102758"/>
            <a:ext cx="13133097" cy="3335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00094" lvl="2" indent="-266698" algn="l">
              <a:lnSpc>
                <a:spcPts val="4899"/>
              </a:lnSpc>
              <a:buFont typeface="Arial"/>
              <a:buChar char="⚬"/>
            </a:pPr>
            <a:r>
              <a:rPr lang="en-US" sz="3600" b="1" spc="-276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their Limitations</a:t>
            </a:r>
          </a:p>
          <a:p>
            <a:pPr marL="1338572" lvl="2" indent="-446191" algn="l">
              <a:lnSpc>
                <a:spcPts val="4339"/>
              </a:lnSpc>
              <a:buFont typeface="Arial"/>
              <a:buChar char="⚬"/>
            </a:pPr>
            <a:r>
              <a:rPr lang="en-US" sz="3200" spc="-24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 only a match score without detailed explanation</a:t>
            </a:r>
          </a:p>
          <a:p>
            <a:pPr marL="1338572" lvl="2" indent="-446191" algn="l">
              <a:lnSpc>
                <a:spcPts val="4339"/>
              </a:lnSpc>
              <a:buFont typeface="Arial"/>
              <a:buChar char="⚬"/>
            </a:pPr>
            <a:r>
              <a:rPr lang="en-US" sz="3200" spc="-24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 not clearly explain why a resume is rejected</a:t>
            </a:r>
          </a:p>
          <a:p>
            <a:pPr marL="1338572" lvl="2" indent="-446191" algn="l">
              <a:lnSpc>
                <a:spcPts val="4339"/>
              </a:lnSpc>
              <a:buFont typeface="Arial"/>
              <a:buChar char="⚬"/>
            </a:pPr>
            <a:r>
              <a:rPr lang="en-US" sz="3200" spc="-24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Lack of personalized improvement suggestions</a:t>
            </a:r>
          </a:p>
          <a:p>
            <a:pPr marL="1338572" lvl="2" indent="-446191" algn="l">
              <a:lnSpc>
                <a:spcPts val="4339"/>
              </a:lnSpc>
              <a:buFont typeface="Arial"/>
              <a:buChar char="⚬"/>
            </a:pPr>
            <a:r>
              <a:rPr lang="en-US" sz="3200" spc="-24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Not specifically designed for </a:t>
            </a:r>
            <a:r>
              <a:rPr lang="en-US" sz="3200" spc="-244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freshers</a:t>
            </a:r>
            <a:r>
              <a:rPr lang="en-US" sz="3200" spc="-24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or beginners</a:t>
            </a:r>
          </a:p>
          <a:p>
            <a:pPr marL="1338572" lvl="2" indent="-446191" algn="l">
              <a:lnSpc>
                <a:spcPts val="4340"/>
              </a:lnSpc>
              <a:buFont typeface="Arial"/>
              <a:buChar char="⚬"/>
            </a:pPr>
            <a:r>
              <a:rPr lang="en-US" sz="3200" spc="-247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Some tools are paid or complex to use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01200" y="2342722"/>
            <a:ext cx="12297018" cy="33178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4" lvl="2" indent="-259078" algn="l">
              <a:lnSpc>
                <a:spcPts val="4759"/>
              </a:lnSpc>
              <a:buFont typeface="Arial"/>
              <a:buChar char="⚬"/>
            </a:pPr>
            <a:r>
              <a:rPr lang="en-US" sz="3600" b="1" spc="-268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the gap your project will address</a:t>
            </a:r>
          </a:p>
          <a:p>
            <a:pPr marL="1338572" lvl="2" indent="-446191" algn="l">
              <a:lnSpc>
                <a:spcPts val="4339"/>
              </a:lnSpc>
              <a:buFont typeface="Arial"/>
              <a:buChar char="⚬"/>
            </a:pPr>
            <a:r>
              <a:rPr lang="en-US" sz="3200" spc="-24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project focuses on bridging this gap by:</a:t>
            </a:r>
          </a:p>
          <a:p>
            <a:pPr marL="1338572" lvl="2" indent="-446191" algn="l">
              <a:lnSpc>
                <a:spcPts val="4339"/>
              </a:lnSpc>
              <a:buFont typeface="Arial"/>
              <a:buChar char="⚬"/>
            </a:pPr>
            <a:r>
              <a:rPr lang="en-US" sz="3200" spc="-24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Providing clear reasons for mismatch, not just scores</a:t>
            </a:r>
          </a:p>
          <a:p>
            <a:pPr marL="1338572" lvl="2" indent="-446191" algn="l">
              <a:lnSpc>
                <a:spcPts val="4339"/>
              </a:lnSpc>
              <a:buFont typeface="Arial"/>
              <a:buChar char="⚬"/>
            </a:pPr>
            <a:r>
              <a:rPr lang="en-US" sz="3200" spc="-24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Giving actionable suggestions to improve the resume</a:t>
            </a:r>
          </a:p>
          <a:p>
            <a:pPr marL="1338572" lvl="2" indent="-446191" algn="l">
              <a:lnSpc>
                <a:spcPts val="4339"/>
              </a:lnSpc>
              <a:buFont typeface="Arial"/>
              <a:buChar char="⚬"/>
            </a:pPr>
            <a:r>
              <a:rPr lang="en-US" sz="3200" spc="-24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Offering a skill gap roadmap for users</a:t>
            </a:r>
          </a:p>
          <a:p>
            <a:pPr marL="1338572" lvl="2" indent="-446191" algn="l">
              <a:lnSpc>
                <a:spcPts val="4340"/>
              </a:lnSpc>
              <a:buFont typeface="Arial"/>
              <a:buChar char="⚬"/>
            </a:pPr>
            <a:r>
              <a:rPr lang="en-US" sz="3200" spc="-247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Designing a simple and beginner-friendly interface</a:t>
            </a:r>
          </a:p>
        </p:txBody>
      </p:sp>
      <p:sp>
        <p:nvSpPr>
          <p:cNvPr id="8" name="Freeform 8"/>
          <p:cNvSpPr/>
          <p:nvPr/>
        </p:nvSpPr>
        <p:spPr>
          <a:xfrm>
            <a:off x="1221877" y="1503969"/>
            <a:ext cx="16230600" cy="302552"/>
          </a:xfrm>
          <a:custGeom>
            <a:avLst/>
            <a:gdLst/>
            <a:ahLst/>
            <a:cxnLst/>
            <a:rect l="l" t="t" r="r" b="b"/>
            <a:pathLst>
              <a:path w="16230600" h="302552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33298" y="575310"/>
            <a:ext cx="2131571" cy="1004830"/>
            <a:chOff x="0" y="0"/>
            <a:chExt cx="2842095" cy="13397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42133" cy="1339723"/>
            </a:xfrm>
            <a:custGeom>
              <a:avLst/>
              <a:gdLst/>
              <a:ahLst/>
              <a:cxnLst/>
              <a:rect l="l" t="t" r="r" b="b"/>
              <a:pathLst>
                <a:path w="2842133" h="133972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r="-85" b="-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978664" y="-269129"/>
            <a:ext cx="2475690" cy="2475690"/>
            <a:chOff x="0" y="0"/>
            <a:chExt cx="3300921" cy="33009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00984" cy="3300984"/>
            </a:xfrm>
            <a:custGeom>
              <a:avLst/>
              <a:gdLst/>
              <a:ahLst/>
              <a:cxnLst/>
              <a:rect l="l" t="t" r="r" b="b"/>
              <a:pathLst>
                <a:path w="3300984" h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66401" y="-35020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71" b="-927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5983562" y="153161"/>
            <a:ext cx="6320876" cy="1006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sz="4999" b="1" spc="-399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 SOLUTION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-257502" y="1807382"/>
            <a:ext cx="6419522" cy="615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9980" lvl="2" indent="-266660" algn="l">
              <a:lnSpc>
                <a:spcPts val="4899"/>
              </a:lnSpc>
              <a:buFont typeface="Arial"/>
              <a:buChar char="⚬"/>
            </a:pPr>
            <a:r>
              <a:rPr lang="en-US" sz="3498" b="1" spc="-278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your solution clearly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-160882" y="5021747"/>
            <a:ext cx="5209280" cy="615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9980" lvl="2" indent="-266660" algn="l">
              <a:lnSpc>
                <a:spcPts val="4899"/>
              </a:lnSpc>
              <a:buFont typeface="Arial"/>
              <a:buChar char="⚬"/>
            </a:pPr>
            <a:r>
              <a:rPr lang="en-US" sz="3498" b="1" spc="-278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List key features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-166401" y="8055518"/>
            <a:ext cx="7600069" cy="59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83549" lvl="2" indent="-261183" algn="l">
              <a:lnSpc>
                <a:spcPts val="4798"/>
              </a:lnSpc>
              <a:buFont typeface="Arial"/>
              <a:buChar char="⚬"/>
            </a:pPr>
            <a:r>
              <a:rPr lang="en-US" sz="3427" b="1" spc="-273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how it solves the problem</a:t>
            </a:r>
          </a:p>
        </p:txBody>
      </p:sp>
      <p:sp>
        <p:nvSpPr>
          <p:cNvPr id="8" name="Freeform 8"/>
          <p:cNvSpPr/>
          <p:nvPr/>
        </p:nvSpPr>
        <p:spPr>
          <a:xfrm>
            <a:off x="1028700" y="1460497"/>
            <a:ext cx="16230600" cy="302552"/>
          </a:xfrm>
          <a:custGeom>
            <a:avLst/>
            <a:gdLst/>
            <a:ahLst/>
            <a:cxnLst/>
            <a:rect l="l" t="t" r="r" b="b"/>
            <a:pathLst>
              <a:path w="16230600" h="302552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33298" y="575310"/>
            <a:ext cx="2131571" cy="1004830"/>
            <a:chOff x="0" y="0"/>
            <a:chExt cx="2842095" cy="13397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42133" cy="1339723"/>
            </a:xfrm>
            <a:custGeom>
              <a:avLst/>
              <a:gdLst/>
              <a:ahLst/>
              <a:cxnLst/>
              <a:rect l="l" t="t" r="r" b="b"/>
              <a:pathLst>
                <a:path w="2842133" h="133972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r="-85" b="-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978664" y="-269129"/>
            <a:ext cx="2475690" cy="2475690"/>
            <a:chOff x="0" y="0"/>
            <a:chExt cx="3300921" cy="33009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00984" cy="3300984"/>
            </a:xfrm>
            <a:custGeom>
              <a:avLst/>
              <a:gdLst/>
              <a:ahLst/>
              <a:cxnLst/>
              <a:rect l="l" t="t" r="r" b="b"/>
              <a:pathLst>
                <a:path w="3300984" h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6780167" y="1561646"/>
            <a:ext cx="10184932" cy="32316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198"/>
              </a:lnSpc>
              <a:spcBef>
                <a:spcPct val="0"/>
              </a:spcBef>
            </a:pPr>
            <a:r>
              <a:rPr lang="en-US" sz="2999" spc="-23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solution is a smart Resume-Job Matcher that compares a user’s resume with a job description to evaluate how well they match.</a:t>
            </a:r>
          </a:p>
          <a:p>
            <a:pPr algn="just">
              <a:lnSpc>
                <a:spcPts val="4198"/>
              </a:lnSpc>
              <a:spcBef>
                <a:spcPct val="0"/>
              </a:spcBef>
            </a:pPr>
            <a:r>
              <a:rPr lang="en-US" sz="2999" spc="-23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analyzes skills, projects, and experience, then provides a match score along with clear feedback.</a:t>
            </a:r>
          </a:p>
          <a:p>
            <a:pPr algn="just">
              <a:lnSpc>
                <a:spcPts val="4198"/>
              </a:lnSpc>
              <a:spcBef>
                <a:spcPct val="0"/>
              </a:spcBef>
            </a:pPr>
            <a:r>
              <a:rPr lang="en-US" sz="2999" spc="-23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also suggests improvements and highlights missing skills, making it especially helpful for </a:t>
            </a:r>
            <a:r>
              <a:rPr lang="en-US" sz="2999" spc="-239" dirty="0" err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freshers</a:t>
            </a:r>
            <a:r>
              <a:rPr lang="en-US" sz="2999" spc="-23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145087" y="5021747"/>
            <a:ext cx="8275183" cy="2154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47486" lvl="1" indent="-323743" algn="l">
              <a:lnSpc>
                <a:spcPts val="4198"/>
              </a:lnSpc>
              <a:buFont typeface="Arial"/>
              <a:buChar char="•"/>
            </a:pPr>
            <a:r>
              <a:rPr lang="en-US" sz="2999" spc="-23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 score with percentage</a:t>
            </a:r>
          </a:p>
          <a:p>
            <a:pPr marL="647486" lvl="1" indent="-323743" algn="l">
              <a:lnSpc>
                <a:spcPts val="4198"/>
              </a:lnSpc>
              <a:buFont typeface="Arial"/>
              <a:buChar char="•"/>
            </a:pPr>
            <a:r>
              <a:rPr lang="en-US" sz="2999" spc="-23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Detailed score breakdown (skills, projects, experience)</a:t>
            </a:r>
          </a:p>
          <a:p>
            <a:pPr marL="647486" lvl="1" indent="-323743" algn="l">
              <a:lnSpc>
                <a:spcPts val="4198"/>
              </a:lnSpc>
              <a:buFont typeface="Arial"/>
              <a:buChar char="•"/>
            </a:pPr>
            <a:r>
              <a:rPr lang="en-US" sz="2999" spc="-23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Identification of missing skills</a:t>
            </a:r>
          </a:p>
          <a:p>
            <a:pPr marL="647486" lvl="1" indent="-323743" algn="l">
              <a:lnSpc>
                <a:spcPts val="4198"/>
              </a:lnSpc>
              <a:buFont typeface="Arial"/>
              <a:buChar char="•"/>
            </a:pPr>
            <a:r>
              <a:rPr lang="en-US" sz="2999" spc="-239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Resume improvement </a:t>
            </a:r>
            <a:r>
              <a:rPr lang="en-US" sz="2999" spc="-239" dirty="0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suggestions</a:t>
            </a:r>
            <a:endParaRPr lang="en-US" sz="2999" spc="-23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6553200" y="8043382"/>
            <a:ext cx="8664116" cy="17312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478"/>
              </a:lnSpc>
              <a:spcBef>
                <a:spcPct val="0"/>
              </a:spcBef>
            </a:pPr>
            <a:r>
              <a:rPr lang="en-US" sz="3199" spc="-255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users understand their job readiness before applying</a:t>
            </a:r>
          </a:p>
          <a:p>
            <a:pPr algn="just">
              <a:lnSpc>
                <a:spcPts val="4478"/>
              </a:lnSpc>
              <a:spcBef>
                <a:spcPct val="0"/>
              </a:spcBef>
            </a:pPr>
            <a:r>
              <a:rPr lang="en-US" sz="3199" spc="-255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Provides clear reasons for low match instead of just a score</a:t>
            </a:r>
          </a:p>
          <a:p>
            <a:pPr algn="just">
              <a:lnSpc>
                <a:spcPts val="4478"/>
              </a:lnSpc>
              <a:spcBef>
                <a:spcPct val="0"/>
              </a:spcBef>
            </a:pPr>
            <a:r>
              <a:rPr lang="en-US" sz="3199" spc="-255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Guides users on how to improve their resume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71" b="-9271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176633" y="1396632"/>
            <a:ext cx="16230600" cy="302552"/>
          </a:xfrm>
          <a:custGeom>
            <a:avLst/>
            <a:gdLst/>
            <a:ahLst/>
            <a:cxnLst/>
            <a:rect l="l" t="t" r="r" b="b"/>
            <a:pathLst>
              <a:path w="16230600" h="302552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33298" y="575310"/>
            <a:ext cx="2131571" cy="1004830"/>
            <a:chOff x="0" y="0"/>
            <a:chExt cx="2842095" cy="13397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2133" cy="1339723"/>
            </a:xfrm>
            <a:custGeom>
              <a:avLst/>
              <a:gdLst/>
              <a:ahLst/>
              <a:cxnLst/>
              <a:rect l="l" t="t" r="r" b="b"/>
              <a:pathLst>
                <a:path w="2842133" h="133972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r="-85" b="-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5661370" y="104305"/>
            <a:ext cx="2475690" cy="2475690"/>
            <a:chOff x="0" y="0"/>
            <a:chExt cx="3300921" cy="330092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00984" cy="3300984"/>
            </a:xfrm>
            <a:custGeom>
              <a:avLst/>
              <a:gdLst/>
              <a:ahLst/>
              <a:cxnLst/>
              <a:rect l="l" t="t" r="r" b="b"/>
              <a:pathLst>
                <a:path w="3300984" h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5742232" y="272196"/>
            <a:ext cx="8054856" cy="882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SYSTEM ARCHITECTURE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33298" y="2126162"/>
            <a:ext cx="7188856" cy="5001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5797" lvl="2" indent="-228599" algn="l">
              <a:lnSpc>
                <a:spcPts val="4199"/>
              </a:lnSpc>
              <a:buFont typeface="Arial"/>
              <a:buChar char="⚬"/>
            </a:pPr>
            <a:r>
              <a:rPr lang="en-US" sz="3200" b="1" spc="-236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Mention main components (Frontend, </a:t>
            </a:r>
            <a:endParaRPr lang="en-US" sz="2400" spc="-209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2194267" y="2047529"/>
            <a:ext cx="4951391" cy="599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117" lvl="2" indent="-259039" algn="l">
              <a:lnSpc>
                <a:spcPts val="4759"/>
              </a:lnSpc>
              <a:buFont typeface="Arial"/>
              <a:buChar char="⚬"/>
            </a:pPr>
            <a:r>
              <a:rPr lang="en-US" sz="3399" b="1" spc="-27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Explain data flow briefly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4897" y="2781300"/>
            <a:ext cx="13237103" cy="7162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71" b="-9271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1287580" y="1396632"/>
            <a:ext cx="16230600" cy="302552"/>
          </a:xfrm>
          <a:custGeom>
            <a:avLst/>
            <a:gdLst/>
            <a:ahLst/>
            <a:cxnLst/>
            <a:rect l="l" t="t" r="r" b="b"/>
            <a:pathLst>
              <a:path w="16230600" h="302552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33298" y="575310"/>
            <a:ext cx="2131571" cy="1004830"/>
            <a:chOff x="0" y="0"/>
            <a:chExt cx="2842095" cy="133977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842133" cy="1339723"/>
            </a:xfrm>
            <a:custGeom>
              <a:avLst/>
              <a:gdLst/>
              <a:ahLst/>
              <a:cxnLst/>
              <a:rect l="l" t="t" r="r" b="b"/>
              <a:pathLst>
                <a:path w="2842133" h="133972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r="-85" b="-3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6007239" y="-269129"/>
            <a:ext cx="2475690" cy="2475690"/>
            <a:chOff x="0" y="0"/>
            <a:chExt cx="3300921" cy="330092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300984" cy="3300984"/>
            </a:xfrm>
            <a:custGeom>
              <a:avLst/>
              <a:gdLst/>
              <a:ahLst/>
              <a:cxnLst/>
              <a:rect l="l" t="t" r="r" b="b"/>
              <a:pathLst>
                <a:path w="3300984" h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7070042" y="1278674"/>
            <a:ext cx="6569758" cy="8630752"/>
          </a:xfrm>
          <a:custGeom>
            <a:avLst/>
            <a:gdLst/>
            <a:ahLst/>
            <a:cxnLst/>
            <a:rect l="l" t="t" r="r" b="b"/>
            <a:pathLst>
              <a:path w="5631566" h="8630752">
                <a:moveTo>
                  <a:pt x="0" y="0"/>
                </a:moveTo>
                <a:lnTo>
                  <a:pt x="5631566" y="0"/>
                </a:lnTo>
                <a:lnTo>
                  <a:pt x="5631566" y="8630752"/>
                </a:lnTo>
                <a:lnTo>
                  <a:pt x="0" y="86307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3954675" y="272196"/>
            <a:ext cx="10896419" cy="1006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FLOWCHART  /  WORKING PROCESS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810275"/>
            <a:ext cx="6785548" cy="599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117" lvl="2" indent="-259039" algn="l">
              <a:lnSpc>
                <a:spcPts val="4759"/>
              </a:lnSpc>
              <a:buFont typeface="Arial"/>
              <a:buChar char="⚬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Show step-by-step working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01379" y="4606528"/>
            <a:ext cx="5573763" cy="685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117" lvl="2" indent="-259039" algn="l">
              <a:lnSpc>
                <a:spcPts val="4759"/>
              </a:lnSpc>
              <a:buFont typeface="Arial"/>
              <a:buChar char="⚬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Include user flow or system flow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71" b="-927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7294512" y="253708"/>
            <a:ext cx="3698977" cy="10064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998"/>
              </a:lnSpc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  STACK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2542175"/>
            <a:ext cx="6479329" cy="615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9980" lvl="2" indent="-266660" algn="l">
              <a:lnSpc>
                <a:spcPts val="4899"/>
              </a:lnSpc>
              <a:buFont typeface="Arial"/>
              <a:buChar char="⚬"/>
            </a:pPr>
            <a:r>
              <a:rPr lang="en-US" sz="3498" b="1" spc="-27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Frontend technologies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003523"/>
            <a:ext cx="7262143" cy="615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9980" lvl="2" indent="-266660" algn="l">
              <a:lnSpc>
                <a:spcPts val="4899"/>
              </a:lnSpc>
              <a:buFont typeface="Arial"/>
              <a:buChar char="⚬"/>
            </a:pPr>
            <a:r>
              <a:rPr lang="en-US" sz="3498" b="1" spc="-27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Backend technologies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993488" y="3055864"/>
            <a:ext cx="2415620" cy="599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117" lvl="2" indent="-259039" algn="l">
              <a:lnSpc>
                <a:spcPts val="4759"/>
              </a:lnSpc>
              <a:buFont typeface="Arial"/>
              <a:buChar char="⚬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Database</a:t>
            </a:r>
          </a:p>
        </p:txBody>
      </p:sp>
      <p:sp>
        <p:nvSpPr>
          <p:cNvPr id="8" name="Freeform 8"/>
          <p:cNvSpPr/>
          <p:nvPr/>
        </p:nvSpPr>
        <p:spPr>
          <a:xfrm>
            <a:off x="1028700" y="1253509"/>
            <a:ext cx="16230600" cy="302552"/>
          </a:xfrm>
          <a:custGeom>
            <a:avLst/>
            <a:gdLst/>
            <a:ahLst/>
            <a:cxnLst/>
            <a:rect l="l" t="t" r="r" b="b"/>
            <a:pathLst>
              <a:path w="16230600" h="302552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33298" y="575310"/>
            <a:ext cx="2131571" cy="1004830"/>
            <a:chOff x="0" y="0"/>
            <a:chExt cx="2842095" cy="13397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42133" cy="1339723"/>
            </a:xfrm>
            <a:custGeom>
              <a:avLst/>
              <a:gdLst/>
              <a:ahLst/>
              <a:cxnLst/>
              <a:rect l="l" t="t" r="r" b="b"/>
              <a:pathLst>
                <a:path w="2842133" h="133972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r="-85" b="-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978664" y="-269129"/>
            <a:ext cx="2475690" cy="2475690"/>
            <a:chOff x="0" y="0"/>
            <a:chExt cx="3300921" cy="33009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00984" cy="3300984"/>
            </a:xfrm>
            <a:custGeom>
              <a:avLst/>
              <a:gdLst/>
              <a:ahLst/>
              <a:cxnLst/>
              <a:rect l="l" t="t" r="r" b="b"/>
              <a:pathLst>
                <a:path w="3300984" h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1953872" y="3312709"/>
            <a:ext cx="5879688" cy="2215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7007" lvl="1" indent="-338503" algn="l">
              <a:lnSpc>
                <a:spcPts val="4390"/>
              </a:lnSpc>
              <a:buFont typeface="Arial"/>
              <a:buChar char="•"/>
            </a:pPr>
            <a:r>
              <a:rPr lang="en-US" sz="3135" spc="-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HTML5 – Structure of the web app</a:t>
            </a:r>
          </a:p>
          <a:p>
            <a:pPr marL="677007" lvl="1" indent="-338503" algn="l">
              <a:lnSpc>
                <a:spcPts val="4390"/>
              </a:lnSpc>
              <a:buFont typeface="Arial"/>
              <a:buChar char="•"/>
            </a:pPr>
            <a:r>
              <a:rPr lang="en-US" sz="3135" spc="-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CSS3 – Design and layout</a:t>
            </a:r>
          </a:p>
          <a:p>
            <a:pPr marL="677007" lvl="1" indent="-338503" algn="l">
              <a:lnSpc>
                <a:spcPts val="4390"/>
              </a:lnSpc>
              <a:buFont typeface="Arial"/>
              <a:buChar char="•"/>
            </a:pPr>
            <a:r>
              <a:rPr lang="en-US" sz="3135" spc="-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 – Interactivity</a:t>
            </a:r>
          </a:p>
          <a:p>
            <a:pPr marL="677007" lvl="1" indent="-338503" algn="l">
              <a:lnSpc>
                <a:spcPts val="4390"/>
              </a:lnSpc>
              <a:buFont typeface="Arial"/>
              <a:buChar char="•"/>
            </a:pPr>
            <a:r>
              <a:rPr lang="en-US" sz="3135" spc="-25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React (optional) – Dynamic UI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99084" y="6771846"/>
            <a:ext cx="7444916" cy="22523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665" lvl="1" indent="-345333" algn="l">
              <a:lnSpc>
                <a:spcPts val="4478"/>
              </a:lnSpc>
              <a:buFont typeface="Arial"/>
              <a:buChar char="•"/>
            </a:pPr>
            <a:r>
              <a:rPr lang="en-US" sz="3199" spc="-2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/ Node.js – Backend logic</a:t>
            </a:r>
          </a:p>
          <a:p>
            <a:pPr marL="690665" lvl="1" indent="-345333" algn="l">
              <a:lnSpc>
                <a:spcPts val="4478"/>
              </a:lnSpc>
              <a:buFont typeface="Arial"/>
              <a:buChar char="•"/>
            </a:pPr>
            <a:r>
              <a:rPr lang="en-US" sz="3199" spc="-2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Flask / Express.js – API handling</a:t>
            </a:r>
          </a:p>
          <a:p>
            <a:pPr marL="690665" lvl="1" indent="-345333" algn="l">
              <a:lnSpc>
                <a:spcPts val="4478"/>
              </a:lnSpc>
              <a:buFont typeface="Arial"/>
              <a:buChar char="•"/>
            </a:pPr>
            <a:r>
              <a:rPr lang="en-US" sz="3199" spc="-2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Natural Language Processing – Resume analysis</a:t>
            </a:r>
          </a:p>
          <a:p>
            <a:pPr marL="690665" lvl="1" indent="-345333" algn="l">
              <a:lnSpc>
                <a:spcPts val="4478"/>
              </a:lnSpc>
              <a:buFont typeface="Arial"/>
              <a:buChar char="•"/>
            </a:pPr>
            <a:r>
              <a:rPr lang="en-US" sz="3199" spc="-25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Firebase (optional) – Data storage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87330" y="3855182"/>
            <a:ext cx="6667024" cy="2676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8"/>
              </a:lnSpc>
            </a:pPr>
            <a:r>
              <a:rPr lang="en-US" sz="3005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Firebase / MongoDB – Store user data </a:t>
            </a:r>
          </a:p>
          <a:p>
            <a:pPr algn="l">
              <a:lnSpc>
                <a:spcPts val="4208"/>
              </a:lnSpc>
            </a:pPr>
            <a:r>
              <a:rPr lang="en-US" sz="3005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Stores:</a:t>
            </a:r>
          </a:p>
          <a:p>
            <a:pPr algn="l">
              <a:lnSpc>
                <a:spcPts val="4208"/>
              </a:lnSpc>
            </a:pPr>
            <a:r>
              <a:rPr lang="en-US" sz="3005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Resume inputs</a:t>
            </a:r>
          </a:p>
          <a:p>
            <a:pPr algn="l">
              <a:lnSpc>
                <a:spcPts val="4208"/>
              </a:lnSpc>
            </a:pPr>
            <a:r>
              <a:rPr lang="en-US" sz="3005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Job descriptions</a:t>
            </a:r>
          </a:p>
          <a:p>
            <a:pPr algn="l">
              <a:lnSpc>
                <a:spcPts val="4208"/>
              </a:lnSpc>
            </a:pPr>
            <a:r>
              <a:rPr lang="en-US" sz="3005" spc="-23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Analysis results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71" b="-927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5730030" y="243288"/>
            <a:ext cx="7003999" cy="1025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IMPLEMENTATION  PLAN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33298" y="2233309"/>
            <a:ext cx="9333803" cy="615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9981" lvl="2" indent="-266660" algn="l">
              <a:lnSpc>
                <a:spcPts val="4899"/>
              </a:lnSpc>
              <a:buFont typeface="Arial"/>
              <a:buChar char="⚬"/>
            </a:pPr>
            <a:r>
              <a:rPr lang="en-US" sz="3498" b="1" spc="-27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Step-by-step development plan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709757" y="2233309"/>
            <a:ext cx="9333870" cy="599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118" lvl="2" indent="-259039" algn="l">
              <a:lnSpc>
                <a:spcPts val="4759"/>
              </a:lnSpc>
              <a:buFont typeface="Arial"/>
              <a:buChar char="⚬"/>
            </a:pPr>
            <a:r>
              <a:rPr lang="en-US" sz="3399" b="1" spc="-2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Modules or features to be built</a:t>
            </a:r>
          </a:p>
        </p:txBody>
      </p:sp>
      <p:sp>
        <p:nvSpPr>
          <p:cNvPr id="7" name="Freeform 7"/>
          <p:cNvSpPr/>
          <p:nvPr/>
        </p:nvSpPr>
        <p:spPr>
          <a:xfrm>
            <a:off x="1116730" y="1307173"/>
            <a:ext cx="16230600" cy="302552"/>
          </a:xfrm>
          <a:custGeom>
            <a:avLst/>
            <a:gdLst/>
            <a:ahLst/>
            <a:cxnLst/>
            <a:rect l="l" t="t" r="r" b="b"/>
            <a:pathLst>
              <a:path w="16230600" h="302552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633298" y="575310"/>
            <a:ext cx="2131571" cy="1004830"/>
            <a:chOff x="0" y="0"/>
            <a:chExt cx="2842095" cy="13397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842133" cy="1339723"/>
            </a:xfrm>
            <a:custGeom>
              <a:avLst/>
              <a:gdLst/>
              <a:ahLst/>
              <a:cxnLst/>
              <a:rect l="l" t="t" r="r" b="b"/>
              <a:pathLst>
                <a:path w="2842133" h="133972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r="-85" b="-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15978664" y="-269129"/>
            <a:ext cx="2475690" cy="2475690"/>
            <a:chOff x="0" y="0"/>
            <a:chExt cx="3300921" cy="330092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300984" cy="3300984"/>
            </a:xfrm>
            <a:custGeom>
              <a:avLst/>
              <a:gdLst/>
              <a:ahLst/>
              <a:cxnLst/>
              <a:rect l="l" t="t" r="r" b="b"/>
              <a:pathLst>
                <a:path w="3300984" h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735813" y="2937740"/>
            <a:ext cx="9988435" cy="656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Interface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input page for resume &amp; job description using HTML5 &amp; CSS3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Build Frontend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interactivity with JavaScript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Setup Backend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Flask / Express.js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Matching Logic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Compare resume &amp; job description using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Natural Language Processing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Generate Output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Show match score, missing skills, and suggestions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Integrate &amp; Test</a:t>
            </a:r>
          </a:p>
          <a:p>
            <a:pPr algn="l">
              <a:lnSpc>
                <a:spcPts val="4035"/>
              </a:lnSpc>
            </a:pPr>
            <a:r>
              <a:rPr lang="en-US" sz="2882" spc="-22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Connect frontend + backend and test the system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516149" y="2937740"/>
            <a:ext cx="10925029" cy="7070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Input Module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Enter resume &amp; job description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Text Processing Module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Clean and analyze text using Natural Language Processing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Matching Module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Compare skills and keywords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 Generation Module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Calculate match percentage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Analysis Module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Identify missing skills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Suggestion Module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Provide improvement tips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 Display Module</a:t>
            </a:r>
          </a:p>
          <a:p>
            <a:pPr algn="l">
              <a:lnSpc>
                <a:spcPts val="4014"/>
              </a:lnSpc>
            </a:pPr>
            <a:r>
              <a:rPr lang="en-US" sz="2867" spc="-228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Show score, feedback, and roadmap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71" b="-927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896555" y="244240"/>
            <a:ext cx="8827741" cy="1025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OUTCOME  / IMPACT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50011" y="2867294"/>
            <a:ext cx="7693087" cy="2647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8449" lvl="2" indent="-289483" algn="l">
              <a:lnSpc>
                <a:spcPts val="5318"/>
              </a:lnSpc>
              <a:buFont typeface="Arial"/>
              <a:buChar char="⚬"/>
            </a:pPr>
            <a:r>
              <a:rPr lang="en-US" sz="3798" b="1" spc="-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Expected results of the project</a:t>
            </a:r>
          </a:p>
          <a:p>
            <a:pPr marL="798826" lvl="1" indent="-399413" algn="l">
              <a:lnSpc>
                <a:spcPts val="5179"/>
              </a:lnSpc>
              <a:buFont typeface="Arial"/>
              <a:buChar char="•"/>
            </a:pPr>
            <a:r>
              <a:rPr lang="en-US" sz="3699" spc="-2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resume-job match score</a:t>
            </a:r>
          </a:p>
          <a:p>
            <a:pPr marL="798826" lvl="1" indent="-399413" algn="l">
              <a:lnSpc>
                <a:spcPts val="5179"/>
              </a:lnSpc>
              <a:buFont typeface="Arial"/>
              <a:buChar char="•"/>
            </a:pPr>
            <a:r>
              <a:rPr lang="en-US" sz="3699" spc="-292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Identification of missing skills</a:t>
            </a:r>
          </a:p>
          <a:p>
            <a:pPr marL="798826" lvl="1" indent="-399413" algn="l">
              <a:lnSpc>
                <a:spcPts val="5180"/>
              </a:lnSpc>
              <a:buFont typeface="Arial"/>
              <a:buChar char="•"/>
            </a:pPr>
            <a:r>
              <a:rPr lang="en-US" sz="3699" spc="-29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Personalized improvement suggestions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505575"/>
            <a:ext cx="9319104" cy="2536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8449" lvl="2" indent="-289483" algn="l">
              <a:lnSpc>
                <a:spcPts val="5318"/>
              </a:lnSpc>
              <a:buFont typeface="Arial"/>
              <a:buChar char="⚬"/>
            </a:pPr>
            <a:r>
              <a:rPr lang="en-US" sz="3798" b="1" spc="-30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Benefits to users</a:t>
            </a:r>
          </a:p>
          <a:p>
            <a:pPr marL="800095" lvl="2" indent="-266698" algn="l">
              <a:lnSpc>
                <a:spcPts val="4899"/>
              </a:lnSpc>
              <a:buFont typeface="Arial"/>
              <a:buChar char="⚬"/>
            </a:pPr>
            <a:r>
              <a:rPr lang="en-US" sz="3499" spc="-2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Helps users improve their resumes</a:t>
            </a:r>
          </a:p>
          <a:p>
            <a:pPr marL="800095" lvl="2" indent="-266698" algn="l">
              <a:lnSpc>
                <a:spcPts val="4899"/>
              </a:lnSpc>
              <a:buFont typeface="Arial"/>
              <a:buChar char="⚬"/>
            </a:pPr>
            <a:r>
              <a:rPr lang="en-US" sz="3499" spc="-2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Saves time by providing clear feedback</a:t>
            </a:r>
          </a:p>
          <a:p>
            <a:pPr marL="800205" lvl="2" indent="-266735" algn="l">
              <a:lnSpc>
                <a:spcPts val="4900"/>
              </a:lnSpc>
              <a:buFont typeface="Arial"/>
              <a:buChar char="⚬"/>
            </a:pPr>
            <a:r>
              <a:rPr lang="en-US" sz="3499" spc="-27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Increases chances of job selection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680715" y="2938790"/>
            <a:ext cx="9052848" cy="25539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91309" lvl="2" indent="-297103" algn="l">
              <a:lnSpc>
                <a:spcPts val="5458"/>
              </a:lnSpc>
              <a:buFont typeface="Arial"/>
              <a:buChar char="⚬"/>
            </a:pPr>
            <a:r>
              <a:rPr lang="en-US" sz="3898" b="1" spc="-308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Real-world impact</a:t>
            </a:r>
          </a:p>
          <a:p>
            <a:pPr marL="800095" lvl="2" indent="-266698" algn="l">
              <a:lnSpc>
                <a:spcPts val="4899"/>
              </a:lnSpc>
              <a:buFont typeface="Arial"/>
              <a:buChar char="⚬"/>
            </a:pPr>
            <a:r>
              <a:rPr lang="en-US" sz="3499" spc="-2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Reduces job rejection rates</a:t>
            </a:r>
          </a:p>
          <a:p>
            <a:pPr marL="800095" lvl="2" indent="-266698" algn="l">
              <a:lnSpc>
                <a:spcPts val="4899"/>
              </a:lnSpc>
              <a:buFont typeface="Arial"/>
              <a:buChar char="⚬"/>
            </a:pPr>
            <a:r>
              <a:rPr lang="en-US" sz="3499" spc="-276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Improves employability of freshers</a:t>
            </a:r>
          </a:p>
          <a:p>
            <a:pPr marL="800205" lvl="2" indent="-266735" algn="l">
              <a:lnSpc>
                <a:spcPts val="4900"/>
              </a:lnSpc>
              <a:buFont typeface="Arial"/>
              <a:buChar char="⚬"/>
            </a:pPr>
            <a:r>
              <a:rPr lang="en-US" sz="3499" spc="-27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better career decision-making</a:t>
            </a:r>
          </a:p>
        </p:txBody>
      </p:sp>
      <p:sp>
        <p:nvSpPr>
          <p:cNvPr id="8" name="Freeform 8"/>
          <p:cNvSpPr/>
          <p:nvPr/>
        </p:nvSpPr>
        <p:spPr>
          <a:xfrm>
            <a:off x="1565415" y="1289285"/>
            <a:ext cx="16230600" cy="302552"/>
          </a:xfrm>
          <a:custGeom>
            <a:avLst/>
            <a:gdLst/>
            <a:ahLst/>
            <a:cxnLst/>
            <a:rect l="l" t="t" r="r" b="b"/>
            <a:pathLst>
              <a:path w="16230600" h="302552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33298" y="575310"/>
            <a:ext cx="2131571" cy="1004830"/>
            <a:chOff x="0" y="0"/>
            <a:chExt cx="2842095" cy="13397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42133" cy="1339723"/>
            </a:xfrm>
            <a:custGeom>
              <a:avLst/>
              <a:gdLst/>
              <a:ahLst/>
              <a:cxnLst/>
              <a:rect l="l" t="t" r="r" b="b"/>
              <a:pathLst>
                <a:path w="2842133" h="133972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r="-85" b="-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978664" y="-269129"/>
            <a:ext cx="2475690" cy="2475690"/>
            <a:chOff x="0" y="0"/>
            <a:chExt cx="3300921" cy="33009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00984" cy="3300984"/>
            </a:xfrm>
            <a:custGeom>
              <a:avLst/>
              <a:gdLst/>
              <a:ahLst/>
              <a:cxnLst/>
              <a:rect l="l" t="t" r="r" b="b"/>
              <a:pathLst>
                <a:path w="3300984" h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9271" b="-9271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4503649" y="197672"/>
            <a:ext cx="9836648" cy="1025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4999" b="1" spc="-399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 SCOPE  AND  CONCLUSION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1000" y="2227118"/>
            <a:ext cx="9729902" cy="28212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007" lvl="2" algn="l">
              <a:lnSpc>
                <a:spcPts val="4758"/>
              </a:lnSpc>
            </a:pPr>
            <a:r>
              <a:rPr lang="en-US" sz="3600" b="1" spc="-268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improvements</a:t>
            </a:r>
          </a:p>
          <a:p>
            <a:pPr marL="1165858" lvl="3" indent="-236219">
              <a:lnSpc>
                <a:spcPts val="4339"/>
              </a:lnSpc>
              <a:buFont typeface="Arial"/>
              <a:buChar char="⚬"/>
            </a:pPr>
            <a:r>
              <a:rPr lang="en-US" sz="3600" spc="-24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for PDF/DOC resume uploads</a:t>
            </a:r>
          </a:p>
          <a:p>
            <a:pPr marL="1165858" lvl="3" indent="-236219">
              <a:lnSpc>
                <a:spcPts val="4339"/>
              </a:lnSpc>
              <a:buFont typeface="Arial"/>
              <a:buChar char="⚬"/>
            </a:pPr>
            <a:r>
              <a:rPr lang="en-US" sz="3600" spc="-24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Integration with job portals (LinkedIn, etc.)</a:t>
            </a:r>
          </a:p>
          <a:p>
            <a:pPr marL="1165858" lvl="3" indent="-236219">
              <a:lnSpc>
                <a:spcPts val="4339"/>
              </a:lnSpc>
              <a:buFont typeface="Arial"/>
              <a:buChar char="⚬"/>
            </a:pPr>
            <a:r>
              <a:rPr lang="en-US" sz="3600" spc="-244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AI-based suggestions</a:t>
            </a:r>
          </a:p>
          <a:p>
            <a:pPr marL="1165954" lvl="3" indent="-236251">
              <a:lnSpc>
                <a:spcPts val="4340"/>
              </a:lnSpc>
              <a:buFont typeface="Arial"/>
              <a:buChar char="⚬"/>
            </a:pPr>
            <a:r>
              <a:rPr lang="en-US" sz="3600" spc="-247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Multi-language support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361336" y="2206608"/>
            <a:ext cx="8926664" cy="41036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48487" lvl="2" algn="l">
              <a:lnSpc>
                <a:spcPts val="5038"/>
              </a:lnSpc>
            </a:pPr>
            <a:r>
              <a:rPr lang="en-US" sz="3600" b="1" spc="-284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Scalability of the project</a:t>
            </a:r>
          </a:p>
          <a:p>
            <a:pPr marL="1188717" lvl="3" indent="-243839">
              <a:lnSpc>
                <a:spcPts val="4479"/>
              </a:lnSpc>
              <a:buFont typeface="Arial"/>
              <a:buChar char="⚬"/>
            </a:pPr>
            <a:r>
              <a:rPr lang="en-US" sz="3600" spc="-252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expanded into a full career guidance platform</a:t>
            </a:r>
          </a:p>
          <a:p>
            <a:pPr marL="1188717" lvl="3" indent="-243839">
              <a:lnSpc>
                <a:spcPts val="4479"/>
              </a:lnSpc>
              <a:buFont typeface="Arial"/>
              <a:buChar char="⚬"/>
            </a:pPr>
            <a:r>
              <a:rPr lang="en-US" sz="3600" spc="-252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support thousands of users with cloud deployment</a:t>
            </a:r>
          </a:p>
          <a:p>
            <a:pPr marL="1188817" lvl="3" indent="-243872">
              <a:lnSpc>
                <a:spcPts val="4480"/>
              </a:lnSpc>
              <a:buFont typeface="Arial"/>
              <a:buChar char="⚬"/>
            </a:pPr>
            <a:r>
              <a:rPr lang="en-US" sz="3600" spc="-255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integrate additional features like job recommendations and interview prep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1000" y="5753100"/>
            <a:ext cx="7642792" cy="33727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777011" lvl="2" indent="-259004" algn="l">
              <a:lnSpc>
                <a:spcPts val="4758"/>
              </a:lnSpc>
              <a:buFont typeface="Arial"/>
              <a:buChar char="⚬"/>
            </a:pPr>
            <a:r>
              <a:rPr lang="en-US" sz="3600" b="1" spc="-268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Final summary</a:t>
            </a:r>
          </a:p>
          <a:p>
            <a:pPr marL="929703" lvl="3">
              <a:lnSpc>
                <a:spcPts val="4340"/>
              </a:lnSpc>
            </a:pPr>
            <a:r>
              <a:rPr lang="en-US" sz="3600" spc="-247" dirty="0" smtClean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</a:t>
            </a:r>
            <a:r>
              <a:rPr lang="en-US" sz="3600" spc="-247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helps users understand how well their resume matches a job and provides clear guidance to improve it, making job preparation smarter, faster, and more effective.</a:t>
            </a:r>
          </a:p>
        </p:txBody>
      </p:sp>
      <p:sp>
        <p:nvSpPr>
          <p:cNvPr id="8" name="Freeform 8"/>
          <p:cNvSpPr/>
          <p:nvPr/>
        </p:nvSpPr>
        <p:spPr>
          <a:xfrm>
            <a:off x="1136047" y="1271397"/>
            <a:ext cx="16230600" cy="302552"/>
          </a:xfrm>
          <a:custGeom>
            <a:avLst/>
            <a:gdLst/>
            <a:ahLst/>
            <a:cxnLst/>
            <a:rect l="l" t="t" r="r" b="b"/>
            <a:pathLst>
              <a:path w="16230600" h="302552">
                <a:moveTo>
                  <a:pt x="0" y="0"/>
                </a:moveTo>
                <a:lnTo>
                  <a:pt x="16230600" y="0"/>
                </a:lnTo>
                <a:lnTo>
                  <a:pt x="16230600" y="302552"/>
                </a:lnTo>
                <a:lnTo>
                  <a:pt x="0" y="3025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9" name="Group 9"/>
          <p:cNvGrpSpPr/>
          <p:nvPr/>
        </p:nvGrpSpPr>
        <p:grpSpPr>
          <a:xfrm>
            <a:off x="633298" y="575310"/>
            <a:ext cx="2131571" cy="1004830"/>
            <a:chOff x="0" y="0"/>
            <a:chExt cx="2842095" cy="133977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42133" cy="1339723"/>
            </a:xfrm>
            <a:custGeom>
              <a:avLst/>
              <a:gdLst/>
              <a:ahLst/>
              <a:cxnLst/>
              <a:rect l="l" t="t" r="r" b="b"/>
              <a:pathLst>
                <a:path w="2842133" h="1339723">
                  <a:moveTo>
                    <a:pt x="0" y="0"/>
                  </a:moveTo>
                  <a:lnTo>
                    <a:pt x="2842133" y="0"/>
                  </a:lnTo>
                  <a:lnTo>
                    <a:pt x="2842133" y="1339723"/>
                  </a:lnTo>
                  <a:lnTo>
                    <a:pt x="0" y="13397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86" r="-85" b="-3"/>
              </a:stretch>
            </a:blipFill>
          </p:spPr>
        </p:sp>
      </p:grpSp>
      <p:grpSp>
        <p:nvGrpSpPr>
          <p:cNvPr id="11" name="Group 11"/>
          <p:cNvGrpSpPr/>
          <p:nvPr/>
        </p:nvGrpSpPr>
        <p:grpSpPr>
          <a:xfrm>
            <a:off x="15978664" y="-269129"/>
            <a:ext cx="2475690" cy="2475690"/>
            <a:chOff x="0" y="0"/>
            <a:chExt cx="3300921" cy="330092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300984" cy="3300984"/>
            </a:xfrm>
            <a:custGeom>
              <a:avLst/>
              <a:gdLst/>
              <a:ahLst/>
              <a:cxnLst/>
              <a:rect l="l" t="t" r="r" b="b"/>
              <a:pathLst>
                <a:path w="3300984" h="3300984">
                  <a:moveTo>
                    <a:pt x="0" y="0"/>
                  </a:moveTo>
                  <a:lnTo>
                    <a:pt x="3300984" y="0"/>
                  </a:lnTo>
                  <a:lnTo>
                    <a:pt x="3300984" y="3300984"/>
                  </a:lnTo>
                  <a:lnTo>
                    <a:pt x="0" y="330098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r="1" b="1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757</Words>
  <Application>Microsoft Office PowerPoint</Application>
  <PresentationFormat>Custom</PresentationFormat>
  <Paragraphs>129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 Bold</vt:lpstr>
      <vt:lpstr>Calibri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template.pptx</dc:title>
  <dc:creator>Admin1</dc:creator>
  <cp:lastModifiedBy>Microsoft account</cp:lastModifiedBy>
  <cp:revision>5</cp:revision>
  <dcterms:created xsi:type="dcterms:W3CDTF">2006-08-16T00:00:00Z</dcterms:created>
  <dcterms:modified xsi:type="dcterms:W3CDTF">2026-04-03T09:38:59Z</dcterms:modified>
  <dc:identifier>DAHFuOJoaxU</dc:identifier>
</cp:coreProperties>
</file>